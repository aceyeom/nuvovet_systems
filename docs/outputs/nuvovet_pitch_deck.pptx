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7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4754880" y="0"/>
            <a:ext cx="73152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1828800" cy="1828800"/>
          </a:xfrm>
          <a:prstGeom prst="ellipse">
            <a:avLst/>
          </a:prstGeom>
          <a:solidFill>
            <a:srgbClr val="25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222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202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0" y="4572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35240" y="4572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79" y="4572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5320" y="4572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0" y="4572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5400" y="4572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77724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77724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79" y="77724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77724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7724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15400" y="77724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109728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109728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55279" y="109728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20" y="109728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95360" y="109728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15400" y="109728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141731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141731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79" y="141731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75320" y="141731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0" y="141731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15400" y="141731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0" y="173736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0" y="173736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55279" y="173736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5320" y="173736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0" y="173736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15400" y="173736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0" y="20574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35240" y="20574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55279" y="20574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75320" y="20574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20574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15400" y="2057400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200" y="237743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35240" y="237743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237743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75320" y="237743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360" y="237743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15400" y="237743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15200" y="269747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35240" y="269747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955279" y="269747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75320" y="269747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95360" y="269747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915400" y="2697479"/>
            <a:ext cx="54864" cy="54864"/>
          </a:xfrm>
          <a:prstGeom prst="ellipse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" y="1645920"/>
            <a:ext cx="5486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NUVOVET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192024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Veterinary Drug</a:t>
            </a:r>
            <a:br/>
            <a:r>
              <a:t>Utilization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32004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ADCFC"/>
                </a:solidFill>
                <a:latin typeface="Calibri"/>
              </a:defRPr>
            </a:pPr>
            <a:r>
              <a:t>동물 의료의 처방 안전망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931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CC"/>
                </a:solidFill>
                <a:latin typeface="Calibri"/>
              </a:defRPr>
            </a:pPr>
            <a:r>
              <a:t>국내 유일의 수의학 약물 안전성 검증 시스템</a:t>
            </a:r>
            <a:br/>
            <a:r>
              <a:t>5,600+ 동물병원을 위한 처방 보조 인프라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2286000"/>
            <a:ext cx="2743200" cy="1005840"/>
          </a:xfrm>
          <a:prstGeom prst="roundRect">
            <a:avLst/>
          </a:prstGeom>
          <a:solidFill>
            <a:srgbClr val="22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2286000"/>
            <a:ext cx="54864" cy="10058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23957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641+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Drug Database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0" y="3566160"/>
            <a:ext cx="2743200" cy="1005840"/>
          </a:xfrm>
          <a:prstGeom prst="roundRect">
            <a:avLst/>
          </a:prstGeom>
          <a:solidFill>
            <a:srgbClr val="22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43600" y="3566160"/>
            <a:ext cx="54864" cy="10058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367588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Safety Rules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3600" y="4846320"/>
            <a:ext cx="2743200" cy="1005840"/>
          </a:xfrm>
          <a:prstGeom prst="roundRect">
            <a:avLst/>
          </a:prstGeom>
          <a:solidFill>
            <a:srgbClr val="22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43600" y="4846320"/>
            <a:ext cx="54864" cy="10058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49560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&lt;1s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Analysis Time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BB"/>
                </a:solidFill>
                <a:latin typeface="Calibri"/>
              </a:defRPr>
            </a:pPr>
            <a:r>
              <a:t>말 못하는 생명을 위한, 데이터 기반 처방 안전망</a:t>
            </a:r>
          </a:p>
        </p:txBody>
      </p:sp>
      <p:sp>
        <p:nvSpPr>
          <p:cNvPr id="73" name="Oval 72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왜 동물 의료에 DUR이 필요한가?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182880"/>
            <a:ext cx="457200" cy="45720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1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4D4D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오프라벨 처방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71800"/>
            <a:ext cx="13716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Calibri"/>
              </a:defRPr>
            </a:pPr>
            <a:r>
              <a:t>국내 동물병원 항생제의 약 70%가</a:t>
            </a:r>
            <a:br/>
            <a:r>
              <a:t>인체용 의약품으로 처방됩니다.</a:t>
            </a:r>
            <a:br/>
            <a:r>
              <a:t>대사 능력이 다른 동물에게</a:t>
            </a:r>
            <a:br/>
            <a:r>
              <a:t>부작용 검증 없이 투약하고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474720" cy="54864"/>
          </a:xfrm>
          <a:prstGeom prst="rect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4591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B03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DUR 시스템 전무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971800"/>
            <a:ext cx="13716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Calibri"/>
              </a:defRPr>
            </a:pPr>
            <a:r>
              <a:t>미국은 Instinct Science 등</a:t>
            </a:r>
            <a:br/>
            <a:r>
              <a:t>처방 보조가 필수 인프라이나,</a:t>
            </a:r>
            <a:br/>
            <a:r>
              <a:t>국내에는 약리학적 교차 검증을</a:t>
            </a:r>
            <a:br/>
            <a:r>
              <a:t>수행하는 시스템이 전무합니다.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28016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47472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64591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4D4D"/>
                </a:solidFill>
                <a:latin typeface="Calibri"/>
              </a:defRPr>
            </a:pPr>
            <a:r>
              <a:t>~50%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부작용/오진 불만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971800"/>
            <a:ext cx="13716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Calibri"/>
              </a:defRPr>
            </a:pPr>
            <a:r>
              <a:t>최근 3년 소비자연맹 통계 상</a:t>
            </a:r>
            <a:br/>
            <a:r>
              <a:t>소비자 불만의 절반이</a:t>
            </a:r>
            <a:br/>
            <a:r>
              <a:t>'치료 부작용 및 오진'에서</a:t>
            </a:r>
            <a:br/>
            <a:r>
              <a:t>비롯되었습니다.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수의사의 용량 계산 실수 하나가 동물의 생명을 앗아가고, 병원에는 의료 소송 리스크로 돌아옵니다.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NuvoVet: 한국형 동물 맞춤형 DUR 시스템</a:t>
            </a:r>
          </a:p>
        </p:txBody>
      </p:sp>
      <p:sp>
        <p:nvSpPr>
          <p:cNvPr id="5" name="Oval 4"/>
          <p:cNvSpPr/>
          <p:nvPr/>
        </p:nvSpPr>
        <p:spPr>
          <a:xfrm>
            <a:off x="11155680" y="182880"/>
            <a:ext cx="457200" cy="45720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761"/>
                </a:solidFill>
                <a:latin typeface="Calibri"/>
              </a:defRPr>
            </a:pPr>
            <a:r>
              <a:t>처방 패러다임의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44"/>
                </a:solidFill>
                <a:latin typeface="Calibri"/>
              </a:defRPr>
            </a:pPr>
            <a:r>
              <a:t>수의사 개인의 경험 중심에서</a:t>
            </a:r>
            <a:br/>
            <a:r>
              <a:t>데이터 중심으로 전환하여</a:t>
            </a:r>
            <a:br/>
            <a:r>
              <a:t>완벽한 투약 안전망을 구축합니다.</a:t>
            </a:r>
            <a:br/>
            <a:br/>
            <a:r>
              <a:t>기존 EMR 시스템과 API로 연동되어</a:t>
            </a:r>
            <a:br/>
            <a:r>
              <a:t>처방 단계에서 자동으로 안전성을 검증합니다.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46520" y="14173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Drug-Drug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약물 간 상호작용을</a:t>
            </a:r>
            <a:br/>
            <a:r>
              <a:t>심각도별 실시간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18872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81160" y="14173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Organ Safety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간/신장 누적 부담을</a:t>
            </a:r>
            <a:br/>
            <a:r>
              <a:t>정량적 점수로 산출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33375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Breed Sensitivity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품종별 유전적 취약점</a:t>
            </a:r>
            <a:br/>
            <a:r>
              <a:t>자동 감지 및 차단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10896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60" y="33375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Auto Dose 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체중/종/상호작용 기반</a:t>
            </a:r>
            <a:br/>
            <a:r>
              <a:t>투여량 자동 보정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EMR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API 기반 제로 프릭션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5486400"/>
            <a:ext cx="18288" cy="731520"/>
          </a:xfrm>
          <a:prstGeom prst="rect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다차원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병력 + 알레르기 + 품종 교차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486400"/>
            <a:ext cx="18288" cy="731520"/>
          </a:xfrm>
          <a:prstGeom prst="rect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하드스탑 기능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치명적 처방 원천 차단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5486400"/>
            <a:ext cx="18288" cy="731520"/>
          </a:xfrm>
          <a:prstGeom prst="rect">
            <a:avLst/>
          </a:prstGeom>
          <a:solidFill>
            <a:srgbClr val="35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빅데이터 플랫폼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처방기록 → 수의학 연구</a:t>
            </a:r>
          </a:p>
        </p:txBody>
      </p:sp>
      <p:sp>
        <p:nvSpPr>
          <p:cNvPr id="36" name="Oval 35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8대 안전 검증 엔진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029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80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약물 상호작용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Drug-Drug Interaction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심각도별 분석</a:t>
            </a:r>
            <a:br/>
            <a:r>
              <a:t>(Critical/Moderate/Minor)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0972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1280160"/>
            <a:ext cx="502920" cy="411480"/>
          </a:xfrm>
          <a:prstGeom prst="roundRect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280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장기 부담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Organ Burden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1031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240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간/신장 누적 부담</a:t>
            </a:r>
            <a:br/>
            <a:r>
              <a:t>정량적 점수화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972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280160"/>
            <a:ext cx="5029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280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종 특이 독성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Species Toxicity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031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40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고양이 아세트아미노펜</a:t>
            </a:r>
            <a:br/>
            <a:r>
              <a:t>등 치명적 약물 차단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0972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59" y="1280160"/>
            <a:ext cx="502920" cy="411480"/>
          </a:xfrm>
          <a:prstGeom prst="roundRect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1280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품종 유전 감수성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Breed Genetics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21031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2402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MDR1 변이(콜리 등)</a:t>
            </a:r>
            <a:br/>
            <a:r>
              <a:t>자동 감지/하드스탑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023360"/>
            <a:ext cx="502920" cy="4114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용량 자동 보정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Auto Dose Calc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8463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83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체중/종/상호작용 기반</a:t>
            </a:r>
            <a:br/>
            <a:r>
              <a:t>투여량 역산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38404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20440" y="4023360"/>
            <a:ext cx="502920" cy="4114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CYP 효소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CYP Metabolism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8463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4983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CYP3A4/2D6 억제</a:t>
            </a:r>
            <a:br/>
            <a:r>
              <a:t>유도 영향 분석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8404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4023360"/>
            <a:ext cx="5029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QT 연장 위험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QT Prolongation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8463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983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치명적 부정맥</a:t>
            </a:r>
            <a:br/>
            <a:r>
              <a:t>(토르사드) 검증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3840480"/>
            <a:ext cx="26517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81159" y="4023360"/>
            <a:ext cx="502920" cy="411480"/>
          </a:xfrm>
          <a:prstGeom prst="roundRect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출혈 위험 합산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9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AA8"/>
                </a:solidFill>
                <a:latin typeface="Calibri"/>
              </a:defRPr>
            </a:pPr>
            <a:r>
              <a:t>Bleeding Risk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59" y="484632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59" y="4983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Calibri"/>
              </a:defRPr>
            </a:pPr>
            <a:r>
              <a:t>항응고 + NSAID 등</a:t>
            </a:r>
            <a:br/>
            <a:r>
              <a:t>출혈 위험 합산 경고</a:t>
            </a:r>
          </a:p>
        </p:txBody>
      </p:sp>
      <p:sp>
        <p:nvSpPr>
          <p:cNvPr id="53" name="Oval 52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1초 만에 처방전 안전성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880360"/>
            <a:ext cx="86868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0312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ADCFC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EMR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794760"/>
            <a:ext cx="164592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44"/>
                </a:solidFill>
                <a:latin typeface="Calibri"/>
              </a:defRPr>
            </a:pPr>
            <a:r>
              <a:t>처방전 자동 수신</a:t>
            </a:r>
            <a:br/>
            <a:r>
              <a:t>또는 OCR 스캔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210312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ADCFC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2004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약물 식별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3794760"/>
            <a:ext cx="164592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776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44"/>
                </a:solidFill>
                <a:latin typeface="Calibri"/>
              </a:defRPr>
            </a:pPr>
            <a:r>
              <a:t>641+ 약물 DB에서</a:t>
            </a:r>
            <a:br/>
            <a:r>
              <a:t>성분/분류 매칭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210312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ADCFC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2004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다차원 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3794760"/>
            <a:ext cx="164592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39776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44"/>
                </a:solidFill>
                <a:latin typeface="Calibri"/>
              </a:defRPr>
            </a:pPr>
            <a:r>
              <a:t>10대 안전 규칙</a:t>
            </a:r>
            <a:br/>
            <a:r>
              <a:t>교차 검증 수행</a:t>
            </a:r>
          </a:p>
        </p:txBody>
      </p:sp>
      <p:sp>
        <p:nvSpPr>
          <p:cNvPr id="24" name="Oval 23"/>
          <p:cNvSpPr/>
          <p:nvPr/>
        </p:nvSpPr>
        <p:spPr>
          <a:xfrm>
            <a:off x="10195560" y="210312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ADCFC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2004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결과 리포트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794760"/>
            <a:ext cx="164592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397763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44"/>
                </a:solidFill>
                <a:latin typeface="Calibri"/>
              </a:defRPr>
            </a:pPr>
            <a:r>
              <a:t>심각도별 경고 +</a:t>
            </a:r>
            <a:br/>
            <a:r>
              <a:t>대안 처방 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486400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5806440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React + FastAPI</a:t>
            </a:r>
          </a:p>
        </p:txBody>
      </p:sp>
      <p:sp>
        <p:nvSpPr>
          <p:cNvPr id="36" name="Oval 35"/>
          <p:cNvSpPr/>
          <p:nvPr/>
        </p:nvSpPr>
        <p:spPr>
          <a:xfrm>
            <a:off x="3520439" y="5806440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641+ JSONL Drug Records</a:t>
            </a:r>
          </a:p>
        </p:txBody>
      </p:sp>
      <p:sp>
        <p:nvSpPr>
          <p:cNvPr id="38" name="Oval 37"/>
          <p:cNvSpPr/>
          <p:nvPr/>
        </p:nvSpPr>
        <p:spPr>
          <a:xfrm>
            <a:off x="6309359" y="5806440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59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10 DUR Safety Rules</a:t>
            </a:r>
          </a:p>
        </p:txBody>
      </p:sp>
      <p:sp>
        <p:nvSpPr>
          <p:cNvPr id="40" name="Oval 39"/>
          <p:cNvSpPr/>
          <p:nvPr/>
        </p:nvSpPr>
        <p:spPr>
          <a:xfrm>
            <a:off x="9098280" y="5806440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t>Real-time OCR via Claude Vision</a:t>
            </a:r>
          </a:p>
        </p:txBody>
      </p:sp>
      <p:sp>
        <p:nvSpPr>
          <p:cNvPr id="42" name="Oval 41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ORGAN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5대 장기 부담 시각화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0292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3200400" cy="411480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1920240"/>
            <a:ext cx="640080" cy="6400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뇌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2834640"/>
            <a:ext cx="594360" cy="59436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심장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2834640"/>
            <a:ext cx="594360" cy="594360"/>
          </a:xfrm>
          <a:prstGeom prst="ellipse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간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3657600"/>
            <a:ext cx="594360" cy="5943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혈액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438912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신장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6692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1371600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00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alibri"/>
              </a:defRPr>
            </a:pPr>
            <a:r>
              <a:t>Brain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2743200" cy="22860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164592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194560"/>
            <a:ext cx="56692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2377440"/>
            <a:ext cx="502920" cy="50292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심장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alibri"/>
              </a:defRPr>
            </a:pPr>
            <a:r>
              <a:t>Heart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514600"/>
            <a:ext cx="2743200" cy="22860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2514600"/>
            <a:ext cx="2194560" cy="2286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4D4D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200400"/>
            <a:ext cx="56692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0" y="3383280"/>
            <a:ext cx="502920" cy="502920"/>
          </a:xfrm>
          <a:prstGeom prst="ellipse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alibri"/>
              </a:defRPr>
            </a:pPr>
            <a:r>
              <a:t>Liver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520440"/>
            <a:ext cx="2743200" cy="22860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0" y="3520440"/>
            <a:ext cx="1097280" cy="228600"/>
          </a:xfrm>
          <a:prstGeom prst="roundRect">
            <a:avLst/>
          </a:prstGeom>
          <a:solidFill>
            <a:srgbClr val="FFB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03B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206240"/>
            <a:ext cx="56692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26480" y="438912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혈액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617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alibri"/>
              </a:defRPr>
            </a:pPr>
            <a:r>
              <a:t>Blood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526280"/>
            <a:ext cx="2743200" cy="22860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4526280"/>
            <a:ext cx="1920240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5212080"/>
            <a:ext cx="56692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26480" y="539496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5303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신장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623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alibri"/>
              </a:defRPr>
            </a:pPr>
            <a:r>
              <a:t>Kidney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532120"/>
            <a:ext cx="2743200" cy="22860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46720" y="5532120"/>
            <a:ext cx="82296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각 약물이 장기에 가하는 부담을 0-100 점수로 정량화  |  다약제 처방 시 누적 부담 자동 합산  |  종별(개/고양이) 차등 적용</a:t>
            </a:r>
          </a:p>
        </p:txBody>
      </p:sp>
      <p:sp>
        <p:nvSpPr>
          <p:cNvPr id="48" name="Oval 47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시장 분석 및 규모 (TAM / SAM / SOM)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188720"/>
            <a:ext cx="5029200" cy="5029200"/>
          </a:xfrm>
          <a:prstGeom prst="ellipse">
            <a:avLst/>
          </a:prstGeom>
          <a:solidFill>
            <a:srgbClr val="E8EFFD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874519"/>
            <a:ext cx="3657600" cy="3657600"/>
          </a:xfrm>
          <a:prstGeom prst="ellipse">
            <a:avLst/>
          </a:prstGeom>
          <a:solidFill>
            <a:srgbClr val="B8CDF0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560320"/>
            <a:ext cx="2286000" cy="2286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3200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SOM</a:t>
            </a:r>
            <a:br/>
            <a:r>
              <a:t>₩3.4B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SAM  ₩33.6B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TAM  ₩67.2B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280160"/>
            <a:ext cx="685800" cy="36576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761"/>
                </a:solidFill>
              </a:defRPr>
            </a:pPr>
            <a: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2344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₩672억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44"/>
                </a:solidFill>
                <a:latin typeface="Calibri"/>
              </a:defRPr>
            </a:pPr>
            <a:r>
              <a:t>전체 수의 소프트웨어 시장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전국 5,600 동물병원 × 월 10만원</a:t>
            </a:r>
            <a:br/>
            <a:r>
              <a:t>EMR 구독 기준 연간 시장 규모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3108960"/>
            <a:ext cx="685800" cy="365760"/>
          </a:xfrm>
          <a:prstGeom prst="round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063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₩336억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44"/>
                </a:solidFill>
                <a:latin typeface="Calibri"/>
              </a:defRPr>
            </a:pPr>
            <a:r>
              <a:t>수의 처방 보조 시장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DUR 기능이 필요한 동물병원</a:t>
            </a:r>
            <a:br/>
            <a:r>
              <a:t>(다제 처방 활발한 중대형 병원 50%)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4937760"/>
            <a:ext cx="685800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t>₩34억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937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44"/>
                </a:solidFill>
                <a:latin typeface="Calibri"/>
              </a:defRPr>
            </a:pPr>
            <a:r>
              <a:t>초기 진입 목표 시장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949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EMR 파트너사 연동을 통해</a:t>
            </a:r>
            <a:br/>
            <a:r>
              <a:t>1~3년 내 확보 가능한 병원 500개</a:t>
            </a:r>
            <a:br/>
            <a:r>
              <a:t>× 월 5,000원 × 12개월</a:t>
            </a:r>
            <a:br/>
            <a:r>
              <a:t>+ 프리미엄 옵션 수익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t>현재 국내 경쟁자 전무  |  글로벌 사업자(Instinct Science) 한국 진출 유인 부족  |  국내 펫테크는 B2C 집중</a:t>
            </a:r>
          </a:p>
        </p:txBody>
      </p:sp>
      <p:sp>
        <p:nvSpPr>
          <p:cNvPr id="27" name="Oval 26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SaaS 구독 + 데이터 라이선싱 2단계 수익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SaaS 구독 수익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267712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1671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EMR 회사에 API 플러그인 무상 제공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679192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5786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병원 구독료 ₩5,000/월 (선택 옵션)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090672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90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수익 분배: DUR 70% / EMR 30%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502152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DUR 실제 매출: ₩7,000/병원/월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5303520" cy="54864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8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데이터 라이선싱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2267712"/>
            <a:ext cx="109728" cy="109728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1671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비식별 처방 데이터 축적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2679192"/>
            <a:ext cx="109728" cy="109728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5786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제약사 신약 R&amp;D 데이터 판매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3090672"/>
            <a:ext cx="109728" cy="109728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990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사료/보조제 회사 맞춤 데이터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3502152"/>
            <a:ext cx="109728" cy="109728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Calibri"/>
              </a:defRPr>
            </a:pPr>
            <a:r>
              <a:t>시장 데이터 리포트: 연 ₩3,000만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34840"/>
            <a:ext cx="11064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예상 매출 추이 (연간)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44"/>
                </a:solidFill>
                <a:latin typeface="Calibri"/>
              </a:defRPr>
            </a:pPr>
            <a:r>
              <a:t>1년차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5029200"/>
            <a:ext cx="213360" cy="18288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5072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761"/>
                </a:solidFill>
                <a:latin typeface="Calibri"/>
              </a:defRPr>
            </a:pPr>
            <a:r>
              <a:t>₩8M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57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44"/>
                </a:solidFill>
                <a:latin typeface="Calibri"/>
              </a:defRPr>
            </a:pPr>
            <a:r>
              <a:t>2년차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45920" y="5303520"/>
            <a:ext cx="1066799" cy="18288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4160" y="5257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761"/>
                </a:solidFill>
                <a:latin typeface="Calibri"/>
              </a:defRPr>
            </a:pPr>
            <a:r>
              <a:t>₩42M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32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44"/>
                </a:solidFill>
                <a:latin typeface="Calibri"/>
              </a:defRPr>
            </a:pPr>
            <a:r>
              <a:t>3년차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5577840"/>
            <a:ext cx="3200400" cy="182880"/>
          </a:xfrm>
          <a:prstGeom prst="roundRect">
            <a:avLst/>
          </a:prstGeom>
          <a:solidFill>
            <a:srgbClr val="3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59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761"/>
                </a:solidFill>
                <a:latin typeface="Calibri"/>
              </a:defRPr>
            </a:pPr>
            <a:r>
              <a:t>₩126M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44"/>
                </a:solidFill>
                <a:latin typeface="Calibri"/>
              </a:defRPr>
            </a:pPr>
            <a:r>
              <a:t>4년차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5920" y="5852160"/>
            <a:ext cx="4267199" cy="182880"/>
          </a:xfrm>
          <a:prstGeom prst="round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04559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761"/>
                </a:solidFill>
                <a:latin typeface="Calibri"/>
              </a:defRPr>
            </a:pPr>
            <a:r>
              <a:t>₩168M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080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44"/>
                </a:solidFill>
                <a:latin typeface="Calibri"/>
              </a:defRPr>
            </a:pPr>
            <a:r>
              <a:t>5년차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0" y="6126480"/>
            <a:ext cx="6400800" cy="1828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6080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761"/>
                </a:solidFill>
                <a:latin typeface="Calibri"/>
              </a:defRPr>
            </a:pPr>
            <a:r>
              <a:t>₩252M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₩252M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029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5년차 연매출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3,000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목표 병원 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₩120M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5년차 순이익</a:t>
            </a:r>
          </a:p>
        </p:txBody>
      </p:sp>
      <p:sp>
        <p:nvSpPr>
          <p:cNvPr id="52" name="Oval 51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현재 진행 상황 및 사업 추진 일정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103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2761"/>
                </a:solidFill>
                <a:latin typeface="Calibri"/>
              </a:defRPr>
            </a:pPr>
            <a:r>
              <a:t>641+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약물 DB 구축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097280"/>
            <a:ext cx="2103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188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276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안전 검증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097280"/>
            <a:ext cx="2103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276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MVP 엔진 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59" y="1097280"/>
            <a:ext cx="2103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1188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276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데모 임상 시나리오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097280"/>
            <a:ext cx="2103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188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2761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PK 모델링 약물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94760"/>
            <a:ext cx="1069848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3611880"/>
            <a:ext cx="411480" cy="41148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  <a:latin typeface="Calibri"/>
              </a:defRPr>
            </a:pPr>
            <a:r>
              <a:t>2026.06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개발 &amp; 윤리 심의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70916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법인 세팅, 품질 책임자 선임</a:t>
            </a:r>
            <a:br/>
            <a:r>
              <a:t>검역본부 임상시험 허가 요청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3611880"/>
            <a:ext cx="411480" cy="41148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  <a:latin typeface="Calibri"/>
              </a:defRPr>
            </a:pPr>
            <a:r>
              <a:t>2026.07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206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인허가 신청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470916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의료기기 제조업 허가</a:t>
            </a:r>
            <a:br/>
            <a:r>
              <a:t>제조품목 허가 동시 신청</a:t>
            </a:r>
          </a:p>
        </p:txBody>
      </p:sp>
      <p:sp>
        <p:nvSpPr>
          <p:cNvPr id="33" name="Oval 32"/>
          <p:cNvSpPr/>
          <p:nvPr/>
        </p:nvSpPr>
        <p:spPr>
          <a:xfrm>
            <a:off x="7498079" y="361188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  <a:latin typeface="Calibri"/>
              </a:defRPr>
            </a:pPr>
            <a:r>
              <a:t>2026.08</a:t>
            </a:r>
            <a:br/>
            <a:r>
              <a:t>~2027.02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06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출시 준비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70916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수의학 교수진 임상 검증 논문</a:t>
            </a:r>
            <a:br/>
            <a:r>
              <a:t>EMR 파트너사 API 베타 테스트</a:t>
            </a:r>
          </a:p>
        </p:txBody>
      </p:sp>
      <p:sp>
        <p:nvSpPr>
          <p:cNvPr id="39" name="Oval 38"/>
          <p:cNvSpPr/>
          <p:nvPr/>
        </p:nvSpPr>
        <p:spPr>
          <a:xfrm>
            <a:off x="10332720" y="361188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  <a:latin typeface="Calibri"/>
              </a:defRPr>
            </a:pPr>
            <a:r>
              <a:t>2027.03</a:t>
            </a:r>
            <a:br/>
            <a:r>
              <a:t>~04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4206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시장 진출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4709160"/>
            <a:ext cx="10972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44"/>
                </a:solidFill>
                <a:latin typeface="Calibri"/>
              </a:defRPr>
            </a:pPr>
            <a:r>
              <a:t>허가증 발급 → 즉각 상용화</a:t>
            </a:r>
            <a:br/>
            <a:r>
              <a:t>크라우드펀딩 + 자문위원회 구성</a:t>
            </a:r>
          </a:p>
        </p:txBody>
      </p:sp>
      <p:sp>
        <p:nvSpPr>
          <p:cNvPr id="45" name="Oval 44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FUNDING &amp;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자금 소요 및 조달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예상 자금 소요 (3년)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1년차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2년차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3년차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합계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91640"/>
            <a:ext cx="502920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1년차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2년차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3년차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인건비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36M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54M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108M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서버/클라우드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운영비/마케팅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36M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임대료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Calibri"/>
              </a:defRPr>
            </a:pPr>
            <a:r>
              <a:t>36M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합계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45M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66M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88M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  <a:latin typeface="Calibri"/>
              </a:defRPr>
            </a:pPr>
            <a:r>
              <a:t>199M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1097280"/>
            <a:ext cx="53035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자금 조달 계획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1783080"/>
            <a:ext cx="73152" cy="36576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창업자 자금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44"/>
                </a:solidFill>
                <a:latin typeface="Calibri"/>
              </a:defRPr>
            </a:pPr>
            <a:r>
              <a:t>Pre-seed, Founder Capital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₩50M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60" y="2331720"/>
            <a:ext cx="73152" cy="365760"/>
          </a:xfrm>
          <a:prstGeom prst="roundRect">
            <a:avLst/>
          </a:prstGeom>
          <a:solidFill>
            <a:srgbClr val="3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엔젤 투자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44"/>
                </a:solidFill>
                <a:latin typeface="Calibri"/>
              </a:defRPr>
            </a:pPr>
            <a:r>
              <a:t>Angel Funding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₩100M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66560" y="2880359"/>
            <a:ext cx="73152" cy="365760"/>
          </a:xfrm>
          <a:prstGeom prst="round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2834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정부지원금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30632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44"/>
                </a:solidFill>
                <a:latin typeface="Calibri"/>
              </a:defRPr>
            </a:pPr>
            <a:r>
              <a:t>R&amp;D Grant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2880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₩50M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6560" y="3428999"/>
            <a:ext cx="73152" cy="3657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0" y="3383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창업경연대회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36118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44"/>
                </a:solidFill>
                <a:latin typeface="Calibri"/>
              </a:defRPr>
            </a:pPr>
            <a:r>
              <a:t>Startup Prize Money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34289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N.A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3931920"/>
            <a:ext cx="457200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합계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₩200M+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434840"/>
            <a:ext cx="11064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연도별 손익 추정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256032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1년차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2년차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3년차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4년차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5년차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연 매출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032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₩8.4M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₩42M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₩126M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₩168M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9760" y="53218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₩252M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연 비용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6032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₩45M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₩66M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₩88M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₩111M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9760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₩132M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44"/>
                </a:solidFill>
                <a:latin typeface="Calibri"/>
              </a:defRPr>
            </a:pPr>
            <a:r>
              <a:t>손익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6032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4D4D"/>
                </a:solidFill>
                <a:latin typeface="Calibri"/>
              </a:defRPr>
            </a:pPr>
            <a:r>
              <a:t>-₩36.6M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9768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4D4D"/>
                </a:solidFill>
                <a:latin typeface="Calibri"/>
              </a:defRPr>
            </a:pPr>
            <a:r>
              <a:t>-₩24M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3504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8D"/>
                </a:solidFill>
                <a:latin typeface="Calibri"/>
              </a:defRPr>
            </a:pPr>
            <a:r>
              <a:t>+₩38M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8D"/>
                </a:solidFill>
                <a:latin typeface="Calibri"/>
              </a:defRPr>
            </a:pPr>
            <a:r>
              <a:t>+₩57M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0976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8D"/>
                </a:solidFill>
                <a:latin typeface="Calibri"/>
              </a:defRPr>
            </a:pPr>
            <a:r>
              <a:t>+₩120M</a:t>
            </a:r>
          </a:p>
        </p:txBody>
      </p:sp>
      <p:sp>
        <p:nvSpPr>
          <p:cNvPr id="93" name="Oval 92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창업팀 소개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97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280160"/>
            <a:ext cx="1097280" cy="10972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염인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971800"/>
            <a:ext cx="1097280" cy="3200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카네기멜론대학교</a:t>
            </a:r>
            <a:br/>
            <a:r>
              <a:t>HCI / Computer Science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17830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팀총괄, 사업 모델 설계</a:t>
            </a:r>
            <a:br/>
            <a:r>
              <a:t>시스템 아키텍처 설계</a:t>
            </a:r>
            <a:br/>
            <a:r>
              <a:t>해외 파트너쉽, 펀딩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097280"/>
            <a:ext cx="2697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0520" y="1280160"/>
            <a:ext cx="1097280" cy="1097280"/>
          </a:xfrm>
          <a:prstGeom prst="ellipse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김명학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971800"/>
            <a:ext cx="1097280" cy="320040"/>
          </a:xfrm>
          <a:prstGeom prst="round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74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OO대학교</a:t>
            </a:r>
            <a:br/>
            <a:r>
              <a:t>법규/행정 전문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114800"/>
            <a:ext cx="17830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재무/회계, 마케팅</a:t>
            </a:r>
            <a:br/>
            <a:r>
              <a:t>시장조사/분석</a:t>
            </a:r>
            <a:br/>
            <a:r>
              <a:t>국내 파트너쉽, 영업총괄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097280"/>
            <a:ext cx="2697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600" y="1280160"/>
            <a:ext cx="1097280" cy="1097280"/>
          </a:xfrm>
          <a:prstGeom prst="ellipse">
            <a:avLst/>
          </a:prstGeom>
          <a:solidFill>
            <a:srgbClr val="3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김동현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971800"/>
            <a:ext cx="1097280" cy="320040"/>
          </a:xfrm>
          <a:prstGeom prst="roundRect">
            <a:avLst/>
          </a:prstGeom>
          <a:solidFill>
            <a:srgbClr val="3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세종대학교</a:t>
            </a:r>
            <a:br/>
            <a:r>
              <a:t>인공지능 데이터 사이언스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4114800"/>
            <a:ext cx="17830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제품 알고리즘 개발</a:t>
            </a:r>
            <a:br/>
            <a:r>
              <a:t>약물 데이터베이스 구축</a:t>
            </a:r>
            <a:br/>
            <a:r>
              <a:t>API/EMR 연동 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097280"/>
            <a:ext cx="2697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12680" y="1280160"/>
            <a:ext cx="1097280" cy="1097280"/>
          </a:xfrm>
          <a:prstGeom prst="ellipse">
            <a:avLst/>
          </a:prstGeom>
          <a:solidFill>
            <a:srgbClr val="4A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560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김준우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971800"/>
            <a:ext cx="1097280" cy="320040"/>
          </a:xfrm>
          <a:prstGeom prst="roundRect">
            <a:avLst/>
          </a:prstGeom>
          <a:solidFill>
            <a:srgbClr val="4A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474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울산과기대 전자공학과</a:t>
            </a:r>
            <a:br/>
            <a:r>
              <a:t>LG시스플레이 선임연구원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4114800"/>
            <a:ext cx="1783080" cy="228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4297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44"/>
                </a:solidFill>
                <a:latin typeface="Calibri"/>
              </a:defRPr>
            </a:pPr>
            <a:r>
              <a:t>의료기기법 품질관리</a:t>
            </a:r>
            <a:br/>
            <a:r>
              <a:t>제6조 품질책임자</a:t>
            </a:r>
            <a:br/>
            <a:r>
              <a:t>인허가 프로세스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217920"/>
            <a:ext cx="1106424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제75사단 포병여단 527 포병대대  |  카네기멜론대학교  |  세종대학교 TEED LAB  |  울산과기대</a:t>
            </a:r>
          </a:p>
        </p:txBody>
      </p:sp>
      <p:sp>
        <p:nvSpPr>
          <p:cNvPr id="35" name="Oval 34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49039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94959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79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32719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81360" y="2743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5448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0312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5176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0040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9039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9768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4632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4959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9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8952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544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8408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32719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81360" y="8229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20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584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5448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0312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5176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20040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9768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4632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94959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4360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9224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40879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8952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3816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8680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3544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8408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32719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881360" y="13716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5720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584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55448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65176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0040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749039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29768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84632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94959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4360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9224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040879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8952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13816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68680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23544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78408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32719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881360" y="192023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5720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0584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55448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10312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65176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0040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749039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29768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84632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394959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4360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9224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040879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58952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3816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68680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23544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78408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332719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881360" y="24688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0584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55448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10312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65176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749039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9768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394959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9224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040879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58952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23544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78408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332719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881360" y="30175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5720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0584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55448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10312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65176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20040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749039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29768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84632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394959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94360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49224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040879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58952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13816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68680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23544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78408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332719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881360" y="35661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5720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0584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55448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10312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65176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20040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749039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9768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84632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394959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94360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49224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040879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58952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13816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68680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23544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78408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332719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881360" y="411480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5720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55448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10312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65176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749039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29768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84632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394959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94360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040879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58952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13816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868680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23544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78408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332719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881360" y="466344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5720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0584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55448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10312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65176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20040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749039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29768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84632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94959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94360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49224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040879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58952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13816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68680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23544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78408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332719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881360" y="521207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5720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0584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55448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10312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65176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20040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749039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29768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84632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394959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94360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49224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040879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8952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13816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68680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23544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78408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332719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881360" y="5760720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5720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0584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5448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210312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65176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320040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749039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29768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84632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394959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94360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649224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040879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58952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813816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868680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23544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78408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332719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6309359"/>
            <a:ext cx="36576" cy="36576"/>
          </a:xfrm>
          <a:prstGeom prst="ellipse">
            <a:avLst/>
          </a:prstGeom>
          <a:solidFill>
            <a:srgbClr val="283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14400" y="4572000"/>
            <a:ext cx="2286000" cy="2286000"/>
          </a:xfrm>
          <a:prstGeom prst="ellipse">
            <a:avLst/>
          </a:prstGeom>
          <a:solidFill>
            <a:srgbClr val="22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058400" y="457200"/>
            <a:ext cx="1645920" cy="1645920"/>
          </a:xfrm>
          <a:prstGeom prst="ellipse">
            <a:avLst/>
          </a:prstGeom>
          <a:solidFill>
            <a:srgbClr val="22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144000" y="5029200"/>
            <a:ext cx="1097280" cy="1097280"/>
          </a:xfrm>
          <a:prstGeom prst="ellipse">
            <a:avLst/>
          </a:prstGeom>
          <a:solidFill>
            <a:srgbClr val="22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ADCFC"/>
                </a:solidFill>
                <a:latin typeface="Calibri"/>
              </a:defRPr>
            </a:pPr>
            <a:r>
              <a:t>NUVOVET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828800" y="20116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동물 의료의 처방 안전망을</a:t>
            </a:r>
            <a:br/>
            <a:r>
              <a:t>함께 만들어 갑니다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29200" y="3200400"/>
            <a:ext cx="2133295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3200400" y="3657600"/>
            <a:ext cx="5790895" cy="2011680"/>
          </a:xfrm>
          <a:prstGeom prst="roundRect">
            <a:avLst/>
          </a:prstGeom>
          <a:solidFill>
            <a:srgbClr val="1A2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47472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ADCFC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474720" y="4297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BDD"/>
                </a:solidFill>
                <a:latin typeface="Calibri"/>
              </a:defRPr>
            </a:pPr>
            <a:r>
              <a:t>CEO 염인  |  카네기멜론대학교 HCI/CS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474720" y="4663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BDD"/>
                </a:solidFill>
                <a:latin typeface="Calibri"/>
              </a:defRPr>
            </a:pPr>
            <a:r>
              <a:t>CTO 김동현  |  세종대학교 AI 데이터사이언스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474720" y="5029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BDD"/>
                </a:solidFill>
                <a:latin typeface="Calibri"/>
              </a:defRPr>
            </a:pPr>
            <a:r>
              <a:t>github.com/nuvovet_systems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AA"/>
                </a:solidFill>
                <a:latin typeface="Calibri"/>
              </a:defRPr>
            </a:pPr>
            <a:r>
              <a:t>말 못하는 생명을 위한, 데이터 기반 처방 안전망</a:t>
            </a:r>
          </a:p>
        </p:txBody>
      </p:sp>
      <p:sp>
        <p:nvSpPr>
          <p:cNvPr id="254" name="Oval 253"/>
          <p:cNvSpPr/>
          <p:nvPr/>
        </p:nvSpPr>
        <p:spPr>
          <a:xfrm>
            <a:off x="47242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9528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1814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54100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6386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58672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0958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3244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5530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7816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010247" y="6492240"/>
            <a:ext cx="109728" cy="109728"/>
          </a:xfrm>
          <a:prstGeom prst="ellipse">
            <a:avLst/>
          </a:prstGeom>
          <a:solidFill>
            <a:srgbClr val="55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238847" y="6492240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